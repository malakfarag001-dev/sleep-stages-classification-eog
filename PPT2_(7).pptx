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4" r:id="rId8"/>
    <p:sldId id="270" r:id="rId9"/>
    <p:sldId id="272" r:id="rId10"/>
    <p:sldId id="273" r:id="rId11"/>
    <p:sldId id="275" r:id="rId12"/>
    <p:sldId id="276" r:id="rId13"/>
    <p:sldId id="277" r:id="rId14"/>
    <p:sldId id="278" r:id="rId15"/>
    <p:sldId id="265" r:id="rId16"/>
  </p:sldIdLst>
  <p:sldSz cx="18288000" cy="10287000"/>
  <p:notesSz cx="6858000" cy="9144000"/>
  <p:embeddedFontLst>
    <p:embeddedFont>
      <p:font typeface="Baskerville Old Face" panose="02020602080505020303" pitchFamily="18" charset="0"/>
      <p:regular r:id="rId17"/>
    </p:embeddedFont>
    <p:embeddedFont>
      <p:font typeface="Imprint MT Shadow" panose="04020605060303030202" pitchFamily="8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44" autoAdjust="0"/>
    <p:restoredTop sz="94622" autoAdjust="0"/>
  </p:normalViewPr>
  <p:slideViewPr>
    <p:cSldViewPr>
      <p:cViewPr varScale="1">
        <p:scale>
          <a:sx n="58" d="100"/>
          <a:sy n="58" d="100"/>
        </p:scale>
        <p:origin x="62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hyperlink" Target="https://sleepdata.org/datasets/mesa" TargetMode="Externa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hyperlink" Target="https://sleepdata.org/datasets/mesa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hyperlink" Target="https://sleepdata.org/datasets/mesa" TargetMode="External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hyperlink" Target="https://sleepdata.org/datasets/mesa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3FD434-DC22-43FD-ABD2-0F27669B566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80AD0B-E77C-4E9F-8293-E868EA792980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2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Multi-Ethnic Study of Atherosclerosis - Sleep Data - National Sleep Research Resource - NSRR</a:t>
          </a:r>
          <a:endParaRPr lang="en-US" dirty="0">
            <a:solidFill>
              <a:schemeClr val="tx2"/>
            </a:solidFill>
          </a:endParaRPr>
        </a:p>
      </dgm:t>
    </dgm:pt>
    <dgm:pt modelId="{8F8BBC60-DDE0-46D0-AD4A-61293956D8BC}" type="parTrans" cxnId="{2456A150-0071-48C5-AAA6-B9316A1C757A}">
      <dgm:prSet/>
      <dgm:spPr/>
      <dgm:t>
        <a:bodyPr/>
        <a:lstStyle/>
        <a:p>
          <a:endParaRPr lang="en-US"/>
        </a:p>
      </dgm:t>
    </dgm:pt>
    <dgm:pt modelId="{597597A0-B343-4D9D-8B77-47C880CDF271}" type="sibTrans" cxnId="{2456A150-0071-48C5-AAA6-B9316A1C757A}">
      <dgm:prSet/>
      <dgm:spPr/>
      <dgm:t>
        <a:bodyPr/>
        <a:lstStyle/>
        <a:p>
          <a:endParaRPr lang="en-US"/>
        </a:p>
      </dgm:t>
    </dgm:pt>
    <dgm:pt modelId="{02A37F59-E750-4148-8513-7A2CFC2A8DF5}" type="pres">
      <dgm:prSet presAssocID="{803FD434-DC22-43FD-ABD2-0F27669B5669}" presName="linearFlow" presStyleCnt="0">
        <dgm:presLayoutVars>
          <dgm:dir/>
          <dgm:resizeHandles val="exact"/>
        </dgm:presLayoutVars>
      </dgm:prSet>
      <dgm:spPr/>
    </dgm:pt>
    <dgm:pt modelId="{F8723987-25A9-4022-91B2-A635651F0701}" type="pres">
      <dgm:prSet presAssocID="{6580AD0B-E77C-4E9F-8293-E868EA792980}" presName="composite" presStyleCnt="0"/>
      <dgm:spPr/>
    </dgm:pt>
    <dgm:pt modelId="{15C8B8E9-A6D9-437A-9FED-3408B0033F03}" type="pres">
      <dgm:prSet presAssocID="{6580AD0B-E77C-4E9F-8293-E868EA792980}" presName="imgShp" presStyleLbl="fgImgPlace1" presStyleIdx="0" presStyleCnt="1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3C312051-083B-46A2-B949-380C324D6646}" type="pres">
      <dgm:prSet presAssocID="{6580AD0B-E77C-4E9F-8293-E868EA792980}" presName="txShp" presStyleLbl="node1" presStyleIdx="0" presStyleCnt="1">
        <dgm:presLayoutVars>
          <dgm:bulletEnabled val="1"/>
        </dgm:presLayoutVars>
      </dgm:prSet>
      <dgm:spPr/>
    </dgm:pt>
  </dgm:ptLst>
  <dgm:cxnLst>
    <dgm:cxn modelId="{C718DD05-3A46-4172-A6EE-61C6CD79922D}" type="presOf" srcId="{6580AD0B-E77C-4E9F-8293-E868EA792980}" destId="{3C312051-083B-46A2-B949-380C324D6646}" srcOrd="0" destOrd="0" presId="urn:microsoft.com/office/officeart/2005/8/layout/vList3"/>
    <dgm:cxn modelId="{2456A150-0071-48C5-AAA6-B9316A1C757A}" srcId="{803FD434-DC22-43FD-ABD2-0F27669B5669}" destId="{6580AD0B-E77C-4E9F-8293-E868EA792980}" srcOrd="0" destOrd="0" parTransId="{8F8BBC60-DDE0-46D0-AD4A-61293956D8BC}" sibTransId="{597597A0-B343-4D9D-8B77-47C880CDF271}"/>
    <dgm:cxn modelId="{3FB24D73-E960-419F-AE02-DA318008A716}" type="presOf" srcId="{803FD434-DC22-43FD-ABD2-0F27669B5669}" destId="{02A37F59-E750-4148-8513-7A2CFC2A8DF5}" srcOrd="0" destOrd="0" presId="urn:microsoft.com/office/officeart/2005/8/layout/vList3"/>
    <dgm:cxn modelId="{7C6E1D10-647F-4B6F-BD43-113040F91C6B}" type="presParOf" srcId="{02A37F59-E750-4148-8513-7A2CFC2A8DF5}" destId="{F8723987-25A9-4022-91B2-A635651F0701}" srcOrd="0" destOrd="0" presId="urn:microsoft.com/office/officeart/2005/8/layout/vList3"/>
    <dgm:cxn modelId="{B97F53DC-9A3A-4785-B164-A06EBCC4C7FB}" type="presParOf" srcId="{F8723987-25A9-4022-91B2-A635651F0701}" destId="{15C8B8E9-A6D9-437A-9FED-3408B0033F03}" srcOrd="0" destOrd="0" presId="urn:microsoft.com/office/officeart/2005/8/layout/vList3"/>
    <dgm:cxn modelId="{3534324C-2D46-45A1-8E08-D7AD010216E0}" type="presParOf" srcId="{F8723987-25A9-4022-91B2-A635651F0701}" destId="{3C312051-083B-46A2-B949-380C324D664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3FD434-DC22-43FD-ABD2-0F27669B566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80AD0B-E77C-4E9F-8293-E868EA792980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2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Multi-Ethnic Study of Atherosclerosis - Sleep Data - National Sleep Research Resource - NSRR</a:t>
          </a:r>
          <a:endParaRPr lang="en-US" dirty="0">
            <a:solidFill>
              <a:schemeClr val="tx2"/>
            </a:solidFill>
          </a:endParaRPr>
        </a:p>
      </dgm:t>
    </dgm:pt>
    <dgm:pt modelId="{8F8BBC60-DDE0-46D0-AD4A-61293956D8BC}" type="parTrans" cxnId="{2456A150-0071-48C5-AAA6-B9316A1C757A}">
      <dgm:prSet/>
      <dgm:spPr/>
      <dgm:t>
        <a:bodyPr/>
        <a:lstStyle/>
        <a:p>
          <a:endParaRPr lang="en-US"/>
        </a:p>
      </dgm:t>
    </dgm:pt>
    <dgm:pt modelId="{597597A0-B343-4D9D-8B77-47C880CDF271}" type="sibTrans" cxnId="{2456A150-0071-48C5-AAA6-B9316A1C757A}">
      <dgm:prSet/>
      <dgm:spPr/>
      <dgm:t>
        <a:bodyPr/>
        <a:lstStyle/>
        <a:p>
          <a:endParaRPr lang="en-US"/>
        </a:p>
      </dgm:t>
    </dgm:pt>
    <dgm:pt modelId="{02A37F59-E750-4148-8513-7A2CFC2A8DF5}" type="pres">
      <dgm:prSet presAssocID="{803FD434-DC22-43FD-ABD2-0F27669B5669}" presName="linearFlow" presStyleCnt="0">
        <dgm:presLayoutVars>
          <dgm:dir/>
          <dgm:resizeHandles val="exact"/>
        </dgm:presLayoutVars>
      </dgm:prSet>
      <dgm:spPr/>
    </dgm:pt>
    <dgm:pt modelId="{F8723987-25A9-4022-91B2-A635651F0701}" type="pres">
      <dgm:prSet presAssocID="{6580AD0B-E77C-4E9F-8293-E868EA792980}" presName="composite" presStyleCnt="0"/>
      <dgm:spPr/>
    </dgm:pt>
    <dgm:pt modelId="{15C8B8E9-A6D9-437A-9FED-3408B0033F03}" type="pres">
      <dgm:prSet presAssocID="{6580AD0B-E77C-4E9F-8293-E868EA792980}" presName="imgShp" presStyleLbl="fgImgPlace1" presStyleIdx="0" presStyleCnt="1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3C312051-083B-46A2-B949-380C324D6646}" type="pres">
      <dgm:prSet presAssocID="{6580AD0B-E77C-4E9F-8293-E868EA792980}" presName="txShp" presStyleLbl="node1" presStyleIdx="0" presStyleCnt="1">
        <dgm:presLayoutVars>
          <dgm:bulletEnabled val="1"/>
        </dgm:presLayoutVars>
      </dgm:prSet>
      <dgm:spPr/>
    </dgm:pt>
  </dgm:ptLst>
  <dgm:cxnLst>
    <dgm:cxn modelId="{C718DD05-3A46-4172-A6EE-61C6CD79922D}" type="presOf" srcId="{6580AD0B-E77C-4E9F-8293-E868EA792980}" destId="{3C312051-083B-46A2-B949-380C324D6646}" srcOrd="0" destOrd="0" presId="urn:microsoft.com/office/officeart/2005/8/layout/vList3"/>
    <dgm:cxn modelId="{2456A150-0071-48C5-AAA6-B9316A1C757A}" srcId="{803FD434-DC22-43FD-ABD2-0F27669B5669}" destId="{6580AD0B-E77C-4E9F-8293-E868EA792980}" srcOrd="0" destOrd="0" parTransId="{8F8BBC60-DDE0-46D0-AD4A-61293956D8BC}" sibTransId="{597597A0-B343-4D9D-8B77-47C880CDF271}"/>
    <dgm:cxn modelId="{3FB24D73-E960-419F-AE02-DA318008A716}" type="presOf" srcId="{803FD434-DC22-43FD-ABD2-0F27669B5669}" destId="{02A37F59-E750-4148-8513-7A2CFC2A8DF5}" srcOrd="0" destOrd="0" presId="urn:microsoft.com/office/officeart/2005/8/layout/vList3"/>
    <dgm:cxn modelId="{7C6E1D10-647F-4B6F-BD43-113040F91C6B}" type="presParOf" srcId="{02A37F59-E750-4148-8513-7A2CFC2A8DF5}" destId="{F8723987-25A9-4022-91B2-A635651F0701}" srcOrd="0" destOrd="0" presId="urn:microsoft.com/office/officeart/2005/8/layout/vList3"/>
    <dgm:cxn modelId="{B97F53DC-9A3A-4785-B164-A06EBCC4C7FB}" type="presParOf" srcId="{F8723987-25A9-4022-91B2-A635651F0701}" destId="{15C8B8E9-A6D9-437A-9FED-3408B0033F03}" srcOrd="0" destOrd="0" presId="urn:microsoft.com/office/officeart/2005/8/layout/vList3"/>
    <dgm:cxn modelId="{3534324C-2D46-45A1-8E08-D7AD010216E0}" type="presParOf" srcId="{F8723987-25A9-4022-91B2-A635651F0701}" destId="{3C312051-083B-46A2-B949-380C324D664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12051-083B-46A2-B949-380C324D6646}">
      <dsp:nvSpPr>
        <dsp:cNvPr id="0" name=""/>
        <dsp:cNvSpPr/>
      </dsp:nvSpPr>
      <dsp:spPr>
        <a:xfrm rot="10800000">
          <a:off x="1699724" y="0"/>
          <a:ext cx="4915281" cy="1846659"/>
        </a:xfrm>
        <a:prstGeom prst="homePlate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4325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2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Multi-Ethnic Study of Atherosclerosis - Sleep Data - National Sleep Research Resource - NSRR</a:t>
          </a:r>
          <a:endParaRPr lang="en-US" sz="2500" kern="1200" dirty="0">
            <a:solidFill>
              <a:schemeClr val="tx2"/>
            </a:solidFill>
          </a:endParaRPr>
        </a:p>
      </dsp:txBody>
      <dsp:txXfrm rot="10800000">
        <a:off x="2161389" y="0"/>
        <a:ext cx="4453616" cy="1846659"/>
      </dsp:txXfrm>
    </dsp:sp>
    <dsp:sp modelId="{15C8B8E9-A6D9-437A-9FED-3408B0033F03}">
      <dsp:nvSpPr>
        <dsp:cNvPr id="0" name=""/>
        <dsp:cNvSpPr/>
      </dsp:nvSpPr>
      <dsp:spPr>
        <a:xfrm>
          <a:off x="776394" y="0"/>
          <a:ext cx="1846659" cy="1846659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12051-083B-46A2-B949-380C324D6646}">
      <dsp:nvSpPr>
        <dsp:cNvPr id="0" name=""/>
        <dsp:cNvSpPr/>
      </dsp:nvSpPr>
      <dsp:spPr>
        <a:xfrm rot="10800000">
          <a:off x="1699724" y="0"/>
          <a:ext cx="4915281" cy="1846659"/>
        </a:xfrm>
        <a:prstGeom prst="homePlate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4325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2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Multi-Ethnic Study of Atherosclerosis - Sleep Data - National Sleep Research Resource - NSRR</a:t>
          </a:r>
          <a:endParaRPr lang="en-US" sz="2500" kern="1200" dirty="0">
            <a:solidFill>
              <a:schemeClr val="tx2"/>
            </a:solidFill>
          </a:endParaRPr>
        </a:p>
      </dsp:txBody>
      <dsp:txXfrm rot="10800000">
        <a:off x="2161389" y="0"/>
        <a:ext cx="4453616" cy="1846659"/>
      </dsp:txXfrm>
    </dsp:sp>
    <dsp:sp modelId="{15C8B8E9-A6D9-437A-9FED-3408B0033F03}">
      <dsp:nvSpPr>
        <dsp:cNvPr id="0" name=""/>
        <dsp:cNvSpPr/>
      </dsp:nvSpPr>
      <dsp:spPr>
        <a:xfrm>
          <a:off x="776394" y="0"/>
          <a:ext cx="1846659" cy="1846659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6.png"/><Relationship Id="rId4" Type="http://schemas.openxmlformats.org/officeDocument/2006/relationships/diagramData" Target="../diagrams/data2.xml"/><Relationship Id="rId9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AF7C905-98C5-F11B-21A6-BF0B84EC74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4" t="12531" r="6988" b="9168"/>
          <a:stretch>
            <a:fillRect/>
          </a:stretch>
        </p:blipFill>
        <p:spPr>
          <a:xfrm rot="356450">
            <a:off x="11093599" y="877560"/>
            <a:ext cx="8439800" cy="10058400"/>
          </a:xfrm>
          <a:prstGeom prst="rect">
            <a:avLst/>
          </a:prstGeom>
          <a:effectLst>
            <a:softEdge rad="723900"/>
          </a:effectLst>
        </p:spPr>
      </p:pic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-720407" y="2507393"/>
            <a:ext cx="13574662" cy="448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5000" b="1" dirty="0">
                <a:solidFill>
                  <a:srgbClr val="0C3571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Sleep Stages Classification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FFFF4064-AF7C-FD6A-81D4-77A8CC094EE0}"/>
              </a:ext>
            </a:extLst>
          </p:cNvPr>
          <p:cNvSpPr txBox="1"/>
          <p:nvPr/>
        </p:nvSpPr>
        <p:spPr>
          <a:xfrm>
            <a:off x="5562600" y="7537890"/>
            <a:ext cx="9435532" cy="1815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b="1" dirty="0">
                <a:solidFill>
                  <a:srgbClr val="0C3571"/>
                </a:solidFill>
                <a:latin typeface="Baskerville Old Face" panose="02020602080505020303" pitchFamily="18" charset="0"/>
                <a:ea typeface="Cloud"/>
                <a:cs typeface="Cloud"/>
                <a:sym typeface="Cloud"/>
              </a:rPr>
              <a:t>Course: Biomedical Signal Processing</a:t>
            </a:r>
          </a:p>
          <a:p>
            <a:pPr algn="ctr">
              <a:lnSpc>
                <a:spcPts val="4759"/>
              </a:lnSpc>
            </a:pPr>
            <a:r>
              <a:rPr lang="en-US" sz="3000" b="1" dirty="0">
                <a:solidFill>
                  <a:srgbClr val="0C3571"/>
                </a:solidFill>
                <a:latin typeface="Baskerville Old Face" panose="02020602080505020303" pitchFamily="18" charset="0"/>
                <a:ea typeface="Cloud"/>
                <a:cs typeface="Cloud"/>
                <a:sym typeface="Cloud"/>
              </a:rPr>
              <a:t>Under the supervision of: Dr. Ibrahim Sadek</a:t>
            </a:r>
          </a:p>
          <a:p>
            <a:pPr algn="ctr">
              <a:lnSpc>
                <a:spcPts val="4759"/>
              </a:lnSpc>
            </a:pPr>
            <a:r>
              <a:rPr lang="en-US" sz="3000" b="1" dirty="0">
                <a:solidFill>
                  <a:srgbClr val="0C3571"/>
                </a:solidFill>
                <a:latin typeface="Baskerville Old Face" panose="02020602080505020303" pitchFamily="18" charset="0"/>
                <a:ea typeface="Cloud"/>
                <a:cs typeface="Cloud"/>
                <a:sym typeface="Cloud"/>
              </a:rPr>
              <a:t>By: Malak Mohammed Farag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925341" y="1590578"/>
            <a:ext cx="10009291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12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Dataset</a:t>
            </a:r>
          </a:p>
        </p:txBody>
      </p:sp>
      <p:sp>
        <p:nvSpPr>
          <p:cNvPr id="6" name="Freeform 6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BB0C658-D93D-F9C1-763E-10BB83290F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4434717"/>
              </p:ext>
            </p:extLst>
          </p:nvPr>
        </p:nvGraphicFramePr>
        <p:xfrm>
          <a:off x="-624614" y="4668441"/>
          <a:ext cx="7391400" cy="1846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Freeform 8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77DB94-C792-C4C6-3971-352BD42A7E50}"/>
              </a:ext>
            </a:extLst>
          </p:cNvPr>
          <p:cNvSpPr txBox="1"/>
          <p:nvPr/>
        </p:nvSpPr>
        <p:spPr>
          <a:xfrm>
            <a:off x="6684148" y="3926304"/>
            <a:ext cx="10553381" cy="587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The Multi-Ethnic Study of Atherosclerosis (MESA) is a study that investigates the development of cardiovascular disease before symptoms appears</a:t>
            </a: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Includes 6,814 participants aged 45–84 from diverse ethnic groups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The MESA Sleep study (2010–2012) included 2,237 participants</a:t>
            </a: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3D40C-433C-0CE3-0305-8719DB09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085B22-ACB7-D4CB-A242-B15B608D36EC}"/>
              </a:ext>
            </a:extLst>
          </p:cNvPr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839A070-CB22-B7C7-CD3E-9A784ED3A378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9F828F7-0F13-F856-E72E-A08DD388610D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22CE128-6F33-5A84-8A0C-B46253151B85}"/>
              </a:ext>
            </a:extLst>
          </p:cNvPr>
          <p:cNvSpPr txBox="1"/>
          <p:nvPr/>
        </p:nvSpPr>
        <p:spPr>
          <a:xfrm>
            <a:off x="3925341" y="1590578"/>
            <a:ext cx="10009291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12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Dataset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C476B05-AB76-180F-9224-6B009C8B5A78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E00583D-D67D-5177-F483-EDEF827AC484}"/>
              </a:ext>
            </a:extLst>
          </p:cNvPr>
          <p:cNvGraphicFramePr/>
          <p:nvPr/>
        </p:nvGraphicFramePr>
        <p:xfrm>
          <a:off x="-624614" y="4668441"/>
          <a:ext cx="7391400" cy="1846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Freeform 8">
            <a:extLst>
              <a:ext uri="{FF2B5EF4-FFF2-40B4-BE49-F238E27FC236}">
                <a16:creationId xmlns:a16="http://schemas.microsoft.com/office/drawing/2014/main" id="{7B87ADFA-D7C4-4666-EEF6-4C261571C548}"/>
              </a:ext>
            </a:extLst>
          </p:cNvPr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43B7BE1-510C-BE28-EA1F-3500A22C80E1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FE6E7E-C2FA-FB95-52F3-32C2F79FB8EE}"/>
              </a:ext>
            </a:extLst>
          </p:cNvPr>
          <p:cNvSpPr txBox="1"/>
          <p:nvPr/>
        </p:nvSpPr>
        <p:spPr>
          <a:xfrm>
            <a:off x="6684148" y="3926304"/>
            <a:ext cx="10553381" cy="587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The Multi-Ethnic Study of Atherosclerosis (MESA) is a study that investigates the development of cardiovascular disease before symptoms appears</a:t>
            </a: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Includes 6,814 participants aged 45–84 from diverse ethnic groups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The MESA Sleep study (2010–2012) included 2,237 participants</a:t>
            </a: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  <a:ea typeface="Cloud"/>
              <a:cs typeface="Cloud"/>
              <a:sym typeface="Clou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7B812-9879-7A38-32AC-92AC2119DCC7}"/>
              </a:ext>
            </a:extLst>
          </p:cNvPr>
          <p:cNvSpPr txBox="1"/>
          <p:nvPr/>
        </p:nvSpPr>
        <p:spPr>
          <a:xfrm>
            <a:off x="6698436" y="3926303"/>
            <a:ext cx="10539094" cy="3931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Polysomnography: Contains EDF and XML files</a:t>
            </a:r>
          </a:p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EDF file: </a:t>
            </a:r>
            <a:r>
              <a:rPr lang="en-US" sz="3500" b="1" dirty="0" err="1">
                <a:solidFill>
                  <a:schemeClr val="tx2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Storse</a:t>
            </a: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 different vital signs at the same time </a:t>
            </a:r>
          </a:p>
          <a:p>
            <a:pPr marL="457200" indent="-457200" algn="just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XML file: Contains all events analyzed by the doctors</a:t>
            </a: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Other files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57F591-0567-24B9-6BEC-E49B8D7FB35F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9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00"/>
          <a:stretch>
            <a:fillRect/>
          </a:stretch>
        </p:blipFill>
        <p:spPr>
          <a:xfrm>
            <a:off x="8788313" y="6019430"/>
            <a:ext cx="6345049" cy="3902474"/>
          </a:xfrm>
          <a:prstGeom prst="rect">
            <a:avLst/>
          </a:prstGeom>
          <a:effectLst>
            <a:softEdge rad="101600"/>
          </a:effectLst>
        </p:spPr>
      </p:pic>
    </p:spTree>
    <p:extLst>
      <p:ext uri="{BB962C8B-B14F-4D97-AF65-F5344CB8AC3E}">
        <p14:creationId xmlns:p14="http://schemas.microsoft.com/office/powerpoint/2010/main" val="413715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7 L -0.25 3.7037E-7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0556E-6 -9.87654E-7 L -0.25 -9.87654E-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-0.25 4.81481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02778E-6 -7.40741E-7 L -0.25 -7.40741E-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P spid="7" grpId="0" uiExpand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61211-79BF-67A0-A1C4-95C7686B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D2E63C-81ED-6C49-9622-EDF12A805795}"/>
              </a:ext>
            </a:extLst>
          </p:cNvPr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526E2C6-DCF1-17BC-2D26-3723B3754345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4547B1A-0CE9-5130-67AF-C0B50CDAB87B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D60D97F-AF58-0436-C9B8-DAB27816BB3E}"/>
              </a:ext>
            </a:extLst>
          </p:cNvPr>
          <p:cNvSpPr txBox="1"/>
          <p:nvPr/>
        </p:nvSpPr>
        <p:spPr>
          <a:xfrm>
            <a:off x="3925341" y="1590578"/>
            <a:ext cx="10009291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12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Workflow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0040913-9AFC-E3C7-3DE2-BEDB79717875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55173FB-2612-9075-3E80-574216F4C98E}"/>
              </a:ext>
            </a:extLst>
          </p:cNvPr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2566AD7-0353-1C05-92DA-6124BDB72084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D5CABA-0253-5880-7D90-AF3E9B285030}"/>
              </a:ext>
            </a:extLst>
          </p:cNvPr>
          <p:cNvSpPr txBox="1"/>
          <p:nvPr/>
        </p:nvSpPr>
        <p:spPr>
          <a:xfrm>
            <a:off x="10569839" y="3757612"/>
            <a:ext cx="4556827" cy="328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3500" b="1" u="sng" dirty="0">
                <a:solidFill>
                  <a:schemeClr val="tx2"/>
                </a:solidFill>
                <a:latin typeface="Baskerville Old Face" panose="02020602080505020303" pitchFamily="18" charset="0"/>
              </a:rPr>
              <a:t>Recent: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Building the Model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Training 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Evaluation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12A91-B718-656B-9AED-BA23A7240693}"/>
              </a:ext>
            </a:extLst>
          </p:cNvPr>
          <p:cNvSpPr txBox="1"/>
          <p:nvPr/>
        </p:nvSpPr>
        <p:spPr>
          <a:xfrm>
            <a:off x="2601086" y="3580168"/>
            <a:ext cx="4556827" cy="457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3500" b="1" u="sng" dirty="0">
                <a:solidFill>
                  <a:schemeClr val="tx2"/>
                </a:solidFill>
                <a:latin typeface="Baskerville Old Face" panose="02020602080505020303" pitchFamily="18" charset="0"/>
              </a:rPr>
              <a:t>Previously Done: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Reading Data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Segmentation 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Selecting Channel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Normalization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Splitting the data 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76590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62E37-E6CE-363E-1AD2-1E995E0C3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58FE578-0932-B2A3-1326-B2FEAF58C964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B5B7AE0-EA1B-5139-4F61-39532B04CEFA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1D6072F-3BC1-52E2-8A23-0172BB4A4D79}"/>
              </a:ext>
            </a:extLst>
          </p:cNvPr>
          <p:cNvSpPr txBox="1"/>
          <p:nvPr/>
        </p:nvSpPr>
        <p:spPr>
          <a:xfrm>
            <a:off x="3925341" y="1590578"/>
            <a:ext cx="10009291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12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Reading Data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17F9812-6900-AA00-DBBC-3A65812C2D44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ECD20FE-49D1-0E0C-B988-7FD3893982E1}"/>
              </a:ext>
            </a:extLst>
          </p:cNvPr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02BBDDE-583D-69A9-18C8-16FE5ED48CDB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6F96C4-0796-50FC-48A9-407639C8A9EC}"/>
              </a:ext>
            </a:extLst>
          </p:cNvPr>
          <p:cNvSpPr txBox="1"/>
          <p:nvPr/>
        </p:nvSpPr>
        <p:spPr>
          <a:xfrm>
            <a:off x="10672389" y="3456547"/>
            <a:ext cx="7059478" cy="3931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3500" b="1" u="sng" dirty="0">
                <a:solidFill>
                  <a:schemeClr val="tx2"/>
                </a:solidFill>
                <a:latin typeface="Baskerville Old Face" panose="02020602080505020303" pitchFamily="18" charset="0"/>
              </a:rPr>
              <a:t>XML files: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Events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Filtering </a:t>
            </a:r>
          </a:p>
          <a:p>
            <a:pPr algn="just">
              <a:lnSpc>
                <a:spcPct val="120000"/>
              </a:lnSpc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“Sleep stages only” 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All similar events are in one epoch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E9078-0BBF-78EB-FFFE-8D67E9CFCD5A}"/>
              </a:ext>
            </a:extLst>
          </p:cNvPr>
          <p:cNvSpPr txBox="1"/>
          <p:nvPr/>
        </p:nvSpPr>
        <p:spPr>
          <a:xfrm>
            <a:off x="925129" y="3576436"/>
            <a:ext cx="9285671" cy="457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3500" b="1" u="sng" dirty="0">
                <a:solidFill>
                  <a:schemeClr val="tx2"/>
                </a:solidFill>
                <a:latin typeface="Baskerville Old Face" panose="02020602080505020303" pitchFamily="18" charset="0"/>
              </a:rPr>
              <a:t>EDF files: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Channels: 27</a:t>
            </a:r>
          </a:p>
          <a:p>
            <a:pPr>
              <a:lnSpc>
                <a:spcPct val="120000"/>
              </a:lnSpc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“Just one channel will be used not all of them”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Duration: 12Hrs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Sampling rate: 256 Hz “Points in each second”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0EC7C6-33A3-612E-D8E5-B4DBB4C04A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" t="12441" b="1"/>
          <a:stretch>
            <a:fillRect/>
          </a:stretch>
        </p:blipFill>
        <p:spPr>
          <a:xfrm>
            <a:off x="2681586" y="7053465"/>
            <a:ext cx="12496800" cy="2897718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2" name="Freeform 2">
            <a:extLst>
              <a:ext uri="{FF2B5EF4-FFF2-40B4-BE49-F238E27FC236}">
                <a16:creationId xmlns:a16="http://schemas.microsoft.com/office/drawing/2014/main" id="{3CC8BC70-40D5-3DA8-046E-6D9D9833D2AD}"/>
              </a:ext>
            </a:extLst>
          </p:cNvPr>
          <p:cNvSpPr/>
          <p:nvPr/>
        </p:nvSpPr>
        <p:spPr>
          <a:xfrm>
            <a:off x="-1967072" y="7320904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1974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96D8B-5A37-A1DB-70D0-AC6E7E5F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63BAA0-AD13-D22B-D27B-C8CCBAEDB14A}"/>
              </a:ext>
            </a:extLst>
          </p:cNvPr>
          <p:cNvSpPr/>
          <p:nvPr/>
        </p:nvSpPr>
        <p:spPr>
          <a:xfrm>
            <a:off x="-762000" y="6854297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54C4A60-D8E5-7C06-7519-AFAFECF6322A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A1A3031-C83A-8A2D-D478-291E8C6CCADD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E2B8B14-9E7B-4596-A6D7-5844124B4B56}"/>
              </a:ext>
            </a:extLst>
          </p:cNvPr>
          <p:cNvSpPr txBox="1"/>
          <p:nvPr/>
        </p:nvSpPr>
        <p:spPr>
          <a:xfrm>
            <a:off x="2057400" y="942455"/>
            <a:ext cx="1208754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Segmentation &amp; Channels Selection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E78ED17-C466-D93A-5C08-3C48E56A82D2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6DEE98D-73AE-8BA9-A3E7-795FC14D0140}"/>
              </a:ext>
            </a:extLst>
          </p:cNvPr>
          <p:cNvSpPr/>
          <p:nvPr/>
        </p:nvSpPr>
        <p:spPr>
          <a:xfrm rot="7488824">
            <a:off x="-357383" y="793052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C47FF32-76B7-F5C2-C6C1-427148E44141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664749-2A43-2EA5-68A8-C3A2329CA394}"/>
              </a:ext>
            </a:extLst>
          </p:cNvPr>
          <p:cNvSpPr txBox="1"/>
          <p:nvPr/>
        </p:nvSpPr>
        <p:spPr>
          <a:xfrm>
            <a:off x="609600" y="4073131"/>
            <a:ext cx="6649336" cy="457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Each epoch is segmented into smaller ones ranging about 30 seconds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The EOG-R channel is selected</a:t>
            </a: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4E4FD5-F2AD-2F21-DC89-A8622FF1E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342" y="3712444"/>
            <a:ext cx="8176969" cy="61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634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4E93D-2EA5-B721-74EE-440C1CFD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02DAD3-584C-58CE-8431-8CC6107FB2D0}"/>
              </a:ext>
            </a:extLst>
          </p:cNvPr>
          <p:cNvSpPr/>
          <p:nvPr/>
        </p:nvSpPr>
        <p:spPr>
          <a:xfrm>
            <a:off x="-762000" y="6854297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7122334-F193-E18D-E9FE-830353926997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1770A6F-A10F-3DB9-AC40-F4E4EBD6E64D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5E7B65C-8209-CD7F-1848-FDBAFCFA5E2F}"/>
              </a:ext>
            </a:extLst>
          </p:cNvPr>
          <p:cNvSpPr txBox="1"/>
          <p:nvPr/>
        </p:nvSpPr>
        <p:spPr>
          <a:xfrm>
            <a:off x="2057400" y="1561370"/>
            <a:ext cx="1208754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Why EOG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1933F59-9824-9E74-39DB-474D48048A98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70509DE-0050-081E-163B-EE2681D8CC38}"/>
              </a:ext>
            </a:extLst>
          </p:cNvPr>
          <p:cNvSpPr/>
          <p:nvPr/>
        </p:nvSpPr>
        <p:spPr>
          <a:xfrm rot="7488824">
            <a:off x="-357383" y="793052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E921238-7EBA-9CE6-A0A7-9D0D43EF505E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63CC0-6700-C4BD-7997-D5B6D7D180D7}"/>
              </a:ext>
            </a:extLst>
          </p:cNvPr>
          <p:cNvSpPr txBox="1"/>
          <p:nvPr/>
        </p:nvSpPr>
        <p:spPr>
          <a:xfrm>
            <a:off x="978149" y="3627093"/>
            <a:ext cx="15697200" cy="466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0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EOG shows significant physiological changes across all sleep stages: during wakefulness, eye movements are frequent and erratic; during N1, slow rolling eye movements occur and during N2 and N3, movements are minimal or absent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000" b="1" dirty="0">
              <a:solidFill>
                <a:srgbClr val="1F497D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0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Electrodes are easier to place and less affected by scalp impedance issues compared to EEG electrodes, which makes EOG more practical for both clinical and home monitoring.</a:t>
            </a: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99645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80BD1-5F46-8CD0-1E7C-4541150F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5C8E17-0C07-299D-DD29-933AE39772F3}"/>
              </a:ext>
            </a:extLst>
          </p:cNvPr>
          <p:cNvSpPr/>
          <p:nvPr/>
        </p:nvSpPr>
        <p:spPr>
          <a:xfrm rot="1457987">
            <a:off x="-1547308" y="770915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44883DC-0DB4-DA40-F727-02A639872693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FDD2325-7EBA-FECC-DC51-DD5A817C140F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454413C-B6D9-604C-75C9-472ED425631F}"/>
              </a:ext>
            </a:extLst>
          </p:cNvPr>
          <p:cNvSpPr txBox="1"/>
          <p:nvPr/>
        </p:nvSpPr>
        <p:spPr>
          <a:xfrm>
            <a:off x="2133600" y="1129487"/>
            <a:ext cx="12087545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2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Normalization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D1BA329-CF92-7143-515E-156DEA569AEF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25659C1-F8F8-5075-EFAE-9AA1E1CB4D81}"/>
              </a:ext>
            </a:extLst>
          </p:cNvPr>
          <p:cNvSpPr/>
          <p:nvPr/>
        </p:nvSpPr>
        <p:spPr>
          <a:xfrm rot="7488824">
            <a:off x="-357383" y="793052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36B7D86-4D45-7586-AA10-D879ADFBD301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72396-6E77-2F3B-BD51-323DCB717904}"/>
              </a:ext>
            </a:extLst>
          </p:cNvPr>
          <p:cNvSpPr txBox="1"/>
          <p:nvPr/>
        </p:nvSpPr>
        <p:spPr>
          <a:xfrm>
            <a:off x="986201" y="3393103"/>
            <a:ext cx="14558599" cy="328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Z-score normalization was applied to make the model training more stable and to reduce the effect of amplitude differences between channels.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950F8B-848B-0C61-4017-821EC7C46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" t="800" r="16" b="-4392"/>
          <a:stretch>
            <a:fillRect/>
          </a:stretch>
        </p:blipFill>
        <p:spPr>
          <a:xfrm>
            <a:off x="3357341" y="4801419"/>
            <a:ext cx="10544634" cy="5593234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418488606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2BD02-0460-E079-7CDB-B98D30AC2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BE4CE1-7204-96BF-557D-9A21710AACF1}"/>
              </a:ext>
            </a:extLst>
          </p:cNvPr>
          <p:cNvSpPr/>
          <p:nvPr/>
        </p:nvSpPr>
        <p:spPr>
          <a:xfrm>
            <a:off x="-762000" y="6854297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B54181F-B4BB-3112-6629-B81114A36631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9A6C8F5-8601-4610-09A2-EEC85822B5F8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366A817-9DD9-1651-690D-0F4DDFAAD287}"/>
              </a:ext>
            </a:extLst>
          </p:cNvPr>
          <p:cNvSpPr txBox="1"/>
          <p:nvPr/>
        </p:nvSpPr>
        <p:spPr>
          <a:xfrm>
            <a:off x="2057400" y="942455"/>
            <a:ext cx="1208754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Handling Class Imbalance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1CA0C13-2629-2A2B-0ECE-F42791C5F876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4624A9E-6D5C-70DB-16C5-6466BB90F15B}"/>
              </a:ext>
            </a:extLst>
          </p:cNvPr>
          <p:cNvSpPr/>
          <p:nvPr/>
        </p:nvSpPr>
        <p:spPr>
          <a:xfrm rot="7488824">
            <a:off x="-357383" y="793052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7352CA8-E98B-2C14-F376-6248337CE0AB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B1553-73CE-AE37-F6BC-ECF57740CE8F}"/>
              </a:ext>
            </a:extLst>
          </p:cNvPr>
          <p:cNvSpPr txBox="1"/>
          <p:nvPr/>
        </p:nvSpPr>
        <p:spPr>
          <a:xfrm>
            <a:off x="609600" y="4073131"/>
            <a:ext cx="11811000" cy="263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SMOTE: Generates Samples for minority classes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Class Weighs: Modify the loss function</a:t>
            </a: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44A1E4-B842-1CCB-42A2-1EAEAD1C81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8400" y="5915785"/>
            <a:ext cx="5077145" cy="29959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BA9D42-36B4-9E90-0096-A40C751EEF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14888" y="5915785"/>
            <a:ext cx="4763768" cy="299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3291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8895E0-64ED-A9A1-F74E-918CA4DB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5F09B5-9627-8CF3-5A3E-50E186B322B9}"/>
              </a:ext>
            </a:extLst>
          </p:cNvPr>
          <p:cNvSpPr/>
          <p:nvPr/>
        </p:nvSpPr>
        <p:spPr>
          <a:xfrm>
            <a:off x="-1164711" y="7017507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F4C037A-7DBA-D58D-9308-74177592C07A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EEBC286-5B5C-096D-A27F-9A5946F72617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E37CB28-1673-34C2-E4A9-5429DEB09C60}"/>
              </a:ext>
            </a:extLst>
          </p:cNvPr>
          <p:cNvSpPr txBox="1"/>
          <p:nvPr/>
        </p:nvSpPr>
        <p:spPr>
          <a:xfrm>
            <a:off x="2057400" y="942455"/>
            <a:ext cx="1208754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Building The Model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9192AAD-4F90-F0D5-D200-33CDF32F03B0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62A17F-349E-A099-7052-BF31BF1D6616}"/>
              </a:ext>
            </a:extLst>
          </p:cNvPr>
          <p:cNvSpPr/>
          <p:nvPr/>
        </p:nvSpPr>
        <p:spPr>
          <a:xfrm rot="7488824">
            <a:off x="-357383" y="793052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7984009-5EEF-9FF5-D9FB-200A675D5610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4AB70-DCE3-F32D-1A47-61802DAA0D94}"/>
              </a:ext>
            </a:extLst>
          </p:cNvPr>
          <p:cNvSpPr txBox="1"/>
          <p:nvPr/>
        </p:nvSpPr>
        <p:spPr>
          <a:xfrm>
            <a:off x="496617" y="4058042"/>
            <a:ext cx="9028383" cy="633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Sequential Model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Hybrid CNN-LSTM</a:t>
            </a:r>
          </a:p>
          <a:p>
            <a:pPr algn="just">
              <a:lnSpc>
                <a:spcPct val="120000"/>
              </a:lnSpc>
            </a:pPr>
            <a:r>
              <a:rPr lang="en-US" altLang="en-US" sz="35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The CNN layers extract local spatial features from the signal, and the  LSTM layer captures long-term temporal dependencies to improve sleep stage recognition performance</a:t>
            </a:r>
            <a:r>
              <a:rPr lang="en-US" altLang="en-US" sz="30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.</a:t>
            </a:r>
          </a:p>
          <a:p>
            <a:pPr algn="just">
              <a:lnSpc>
                <a:spcPct val="120000"/>
              </a:lnSpc>
            </a:pPr>
            <a:endParaRPr lang="en-US" altLang="en-US" sz="3000" b="1" dirty="0">
              <a:solidFill>
                <a:srgbClr val="1F497D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000" b="1" dirty="0">
              <a:solidFill>
                <a:srgbClr val="1F497D"/>
              </a:solidFill>
              <a:latin typeface="Baskerville Old Face" panose="02020602080505020303" pitchFamily="18" charset="0"/>
            </a:endParaRP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0A4FA9-1ADF-B01F-AA99-066B736706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9"/>
          <a:stretch>
            <a:fillRect/>
          </a:stretch>
        </p:blipFill>
        <p:spPr>
          <a:xfrm>
            <a:off x="10439400" y="2976982"/>
            <a:ext cx="6649336" cy="675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2097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0F87F-79DE-B880-257A-9D77C5A8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D80813-37D9-CA7A-9EBF-78D4CC1D0FBC}"/>
              </a:ext>
            </a:extLst>
          </p:cNvPr>
          <p:cNvSpPr/>
          <p:nvPr/>
        </p:nvSpPr>
        <p:spPr>
          <a:xfrm>
            <a:off x="-1164711" y="7017507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E802B75-6318-A81B-7864-D94856A56A79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A05FFA8-C3A7-5059-0A47-7BB9CD001292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DE312B-F70E-EA1F-C0E4-3F0ABD99DD34}"/>
              </a:ext>
            </a:extLst>
          </p:cNvPr>
          <p:cNvSpPr txBox="1"/>
          <p:nvPr/>
        </p:nvSpPr>
        <p:spPr>
          <a:xfrm>
            <a:off x="2501366" y="1602104"/>
            <a:ext cx="1208754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Building The Model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3B2B3D1-163F-2D20-AB3C-6BAC11CE5BA5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6E6ACD9-55C0-2679-5C4A-ADAC938DC1A2}"/>
              </a:ext>
            </a:extLst>
          </p:cNvPr>
          <p:cNvSpPr/>
          <p:nvPr/>
        </p:nvSpPr>
        <p:spPr>
          <a:xfrm rot="7488824">
            <a:off x="-357383" y="793052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6098756-BFBC-BA11-6E62-8B933866962C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AC630-5D82-B288-AC01-95D0475ABFC9}"/>
              </a:ext>
            </a:extLst>
          </p:cNvPr>
          <p:cNvSpPr txBox="1"/>
          <p:nvPr/>
        </p:nvSpPr>
        <p:spPr>
          <a:xfrm>
            <a:off x="496617" y="4058042"/>
            <a:ext cx="16648383" cy="310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Optimizer:</a:t>
            </a:r>
            <a:r>
              <a:rPr lang="en-US" sz="3500" b="1" dirty="0">
                <a:solidFill>
                  <a:srgbClr val="1F497D"/>
                </a:solidFill>
                <a:latin typeface="Baskerville Old Face" panose="02020602080505020303" pitchFamily="18" charset="0"/>
                <a:sym typeface="Wingdings" panose="05000000000000000000" pitchFamily="2" charset="2"/>
              </a:rPr>
              <a:t> </a:t>
            </a:r>
            <a:r>
              <a:rPr lang="en-US" sz="30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The model was compiled using the </a:t>
            </a:r>
            <a:r>
              <a:rPr lang="en-US" sz="3000" b="1" dirty="0" err="1">
                <a:solidFill>
                  <a:srgbClr val="1F497D"/>
                </a:solidFill>
                <a:latin typeface="Baskerville Old Face" panose="02020602080505020303" pitchFamily="18" charset="0"/>
              </a:rPr>
              <a:t>AdamW</a:t>
            </a:r>
            <a:r>
              <a:rPr lang="en-US" sz="30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 optimizer, an extension of the Adam optimizer that incorporates decoupled weight decay regularization. 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000" b="1" dirty="0">
              <a:solidFill>
                <a:srgbClr val="1F497D"/>
              </a:solidFill>
              <a:latin typeface="Baskerville Old Face" panose="02020602080505020303" pitchFamily="18" charset="0"/>
            </a:endParaRP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6096EF-3AE3-9307-0187-07242C3C16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573" y="5958677"/>
            <a:ext cx="8305395" cy="323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2806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EB0D8-053A-EF31-6F35-40CC8BFA3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1D4894-6BCA-08C7-8BAC-96268309AA1E}"/>
              </a:ext>
            </a:extLst>
          </p:cNvPr>
          <p:cNvSpPr/>
          <p:nvPr/>
        </p:nvSpPr>
        <p:spPr>
          <a:xfrm>
            <a:off x="-1028373" y="71247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D64C76-DB56-1EA4-0F70-AA233E2F2148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79B2976-F6C9-EF2B-8C15-22EEBEC2C367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28424CB-7EA6-90A4-2B39-DB2C7B9DBEDE}"/>
              </a:ext>
            </a:extLst>
          </p:cNvPr>
          <p:cNvSpPr txBox="1"/>
          <p:nvPr/>
        </p:nvSpPr>
        <p:spPr>
          <a:xfrm>
            <a:off x="2501366" y="1602104"/>
            <a:ext cx="1208754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Training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378A238-53E2-08BF-C709-4724C971ABC9}"/>
              </a:ext>
            </a:extLst>
          </p:cNvPr>
          <p:cNvSpPr/>
          <p:nvPr/>
        </p:nvSpPr>
        <p:spPr>
          <a:xfrm rot="-5002168" flipH="1" flipV="1">
            <a:off x="14599094" y="8052962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B320561-6477-5C0C-8582-0B811C0F9C82}"/>
              </a:ext>
            </a:extLst>
          </p:cNvPr>
          <p:cNvSpPr/>
          <p:nvPr/>
        </p:nvSpPr>
        <p:spPr>
          <a:xfrm rot="7488824">
            <a:off x="-357383" y="793052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A9C02AD-9D26-E66E-7649-E35B22496B4C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77BE3-110D-1979-1375-B2F87C957C95}"/>
              </a:ext>
            </a:extLst>
          </p:cNvPr>
          <p:cNvSpPr txBox="1"/>
          <p:nvPr/>
        </p:nvSpPr>
        <p:spPr>
          <a:xfrm>
            <a:off x="944324" y="3617346"/>
            <a:ext cx="16648383" cy="383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Training the and saving the best model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Epochs: 80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5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Batch size:64</a:t>
            </a:r>
            <a:endParaRPr lang="en-US" sz="3000" b="1" dirty="0">
              <a:solidFill>
                <a:srgbClr val="1F497D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000" b="1" dirty="0">
              <a:solidFill>
                <a:srgbClr val="1F497D"/>
              </a:solidFill>
              <a:latin typeface="Baskerville Old Face" panose="02020602080505020303" pitchFamily="18" charset="0"/>
            </a:endParaRP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355204-5AAF-3ED3-ED7E-04A2DF3AFD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497" y="4684761"/>
            <a:ext cx="12682822" cy="428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7880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7A884-2FCB-0E53-F9EB-5C8292A4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7C34535-B22D-2015-7D6B-B9514830FF8F}"/>
              </a:ext>
            </a:extLst>
          </p:cNvPr>
          <p:cNvSpPr/>
          <p:nvPr/>
        </p:nvSpPr>
        <p:spPr>
          <a:xfrm flipH="1" flipV="1">
            <a:off x="12115800" y="-60730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87BB673-8EA4-BB46-349D-CE0DC6DFD8ED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2664CA-5880-C0FC-5C63-1E228E5614AC}"/>
              </a:ext>
            </a:extLst>
          </p:cNvPr>
          <p:cNvSpPr txBox="1"/>
          <p:nvPr/>
        </p:nvSpPr>
        <p:spPr>
          <a:xfrm>
            <a:off x="2501366" y="889150"/>
            <a:ext cx="1208754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Results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99511F6-3EA4-E03B-BA33-348E9FCA1FF6}"/>
              </a:ext>
            </a:extLst>
          </p:cNvPr>
          <p:cNvSpPr/>
          <p:nvPr/>
        </p:nvSpPr>
        <p:spPr>
          <a:xfrm rot="7488824">
            <a:off x="-357383" y="793052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1317645-5EB6-1B2A-5AD0-15BDB186CDB3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F5E16-6466-D066-B75D-AA89CDBB9E9C}"/>
              </a:ext>
            </a:extLst>
          </p:cNvPr>
          <p:cNvSpPr txBox="1"/>
          <p:nvPr/>
        </p:nvSpPr>
        <p:spPr>
          <a:xfrm>
            <a:off x="581297" y="2493551"/>
            <a:ext cx="13715999" cy="3931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0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The overall test accuracy achieved was 84%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sz="30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The model showed strong performance in detecting: Wake stage &amp; REM stage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0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N2 &amp; N3 sleep stages achieved good classification performance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000" b="1" dirty="0">
                <a:solidFill>
                  <a:srgbClr val="1F497D"/>
                </a:solidFill>
                <a:latin typeface="Baskerville Old Face" panose="02020602080505020303" pitchFamily="18" charset="0"/>
              </a:rPr>
              <a:t>The N1 stage achieved the lowest performance due to its transitional characteristics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000" b="1" dirty="0">
              <a:solidFill>
                <a:srgbClr val="1F497D"/>
              </a:solidFill>
              <a:latin typeface="Baskerville Old Face" panose="02020602080505020303" pitchFamily="18" charset="0"/>
            </a:endParaRPr>
          </a:p>
          <a:p>
            <a:pPr algn="just">
              <a:lnSpc>
                <a:spcPct val="120000"/>
              </a:lnSpc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sz="3500" b="1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468D5F-4482-4BEA-BF78-3B2B9E5D28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6597" y="5557890"/>
            <a:ext cx="7788611" cy="38388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50403D-BBFC-C254-A5A1-DA36A19E60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1195" y="4626384"/>
            <a:ext cx="6869409" cy="53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9918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C3A13-14F7-6962-A32B-D4E0C6FD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CA6668F-103F-8D88-FB4B-D2F19A5EC3BF}"/>
              </a:ext>
            </a:extLst>
          </p:cNvPr>
          <p:cNvSpPr/>
          <p:nvPr/>
        </p:nvSpPr>
        <p:spPr>
          <a:xfrm flipH="1" flipV="1">
            <a:off x="12115800" y="-60730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EE7F768-48F1-F858-DF5F-0BAB2A1A3EFE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EFDF6E2-F5BD-743C-0F40-2523DE9CE7CC}"/>
              </a:ext>
            </a:extLst>
          </p:cNvPr>
          <p:cNvSpPr txBox="1"/>
          <p:nvPr/>
        </p:nvSpPr>
        <p:spPr>
          <a:xfrm>
            <a:off x="2501366" y="889150"/>
            <a:ext cx="1208754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000" b="1" dirty="0">
                <a:solidFill>
                  <a:schemeClr val="tx2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Results for EOG-L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71E29C0-15BA-33F3-29BF-34BE3FA395CF}"/>
              </a:ext>
            </a:extLst>
          </p:cNvPr>
          <p:cNvSpPr/>
          <p:nvPr/>
        </p:nvSpPr>
        <p:spPr>
          <a:xfrm rot="7488824">
            <a:off x="-357383" y="793052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B20F8F0-CD14-50CC-7BF3-A0D1FD9D636F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5B8D91-C69A-5181-CE98-C9BAEF0FDB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128121"/>
            <a:ext cx="10820400" cy="38479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B11D42-7FE4-8343-6E56-47B6F29A9B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374" y="4531468"/>
            <a:ext cx="6933073" cy="5426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B41657-E19D-896C-D0CD-DED6F1EC47C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1"/>
          <a:stretch>
            <a:fillRect/>
          </a:stretch>
        </p:blipFill>
        <p:spPr bwMode="auto">
          <a:xfrm>
            <a:off x="2515950" y="2560802"/>
            <a:ext cx="6245301" cy="33461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2528077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05000" y="3813093"/>
            <a:ext cx="13018493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5000" b="1">
                <a:solidFill>
                  <a:srgbClr val="0C3571"/>
                </a:solidFill>
                <a:latin typeface="Imprint MT Shadow" panose="04020605060303030202" pitchFamily="82" charset="0"/>
                <a:ea typeface="Anantason Bold"/>
                <a:cs typeface="Anantason Bold"/>
                <a:sym typeface="Anantason Bold"/>
              </a:rPr>
              <a:t>THANK YOU!</a:t>
            </a:r>
            <a:endParaRPr lang="en-US" sz="15000" b="1" dirty="0">
              <a:solidFill>
                <a:srgbClr val="0C3571"/>
              </a:solidFill>
              <a:latin typeface="Imprint MT Shadow" panose="04020605060303030202" pitchFamily="82" charset="0"/>
              <a:ea typeface="Anantason Bold"/>
              <a:cs typeface="Anantason Bold"/>
              <a:sym typeface="Anantason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487</Words>
  <Application>Microsoft Office PowerPoint</Application>
  <PresentationFormat>Custom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Baskerville Old Face</vt:lpstr>
      <vt:lpstr>Wingdings</vt:lpstr>
      <vt:lpstr>Calibri</vt:lpstr>
      <vt:lpstr>Imprint MT Shadow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Futuristic Presentation</dc:title>
  <cp:lastModifiedBy>Malak Mohammed Faragallah Ahmed</cp:lastModifiedBy>
  <cp:revision>5</cp:revision>
  <dcterms:created xsi:type="dcterms:W3CDTF">2006-08-16T00:00:00Z</dcterms:created>
  <dcterms:modified xsi:type="dcterms:W3CDTF">2026-05-08T16:10:25Z</dcterms:modified>
  <dc:identifier>DAHDZQk6eVU</dc:identifier>
</cp:coreProperties>
</file>